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2" r:id="rId6"/>
    <p:sldId id="260" r:id="rId7"/>
    <p:sldId id="261" r:id="rId8"/>
    <p:sldId id="263" r:id="rId9"/>
    <p:sldId id="268" r:id="rId10"/>
    <p:sldId id="264" r:id="rId11"/>
    <p:sldId id="266" r:id="rId12"/>
    <p:sldId id="267"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11A5695-D2BA-4532-B995-A5BFB67D22E1}">
          <p14:sldIdLst>
            <p14:sldId id="256"/>
            <p14:sldId id="257"/>
            <p14:sldId id="258"/>
            <p14:sldId id="259"/>
            <p14:sldId id="262"/>
            <p14:sldId id="260"/>
            <p14:sldId id="261"/>
            <p14:sldId id="263"/>
            <p14:sldId id="268"/>
            <p14:sldId id="264"/>
            <p14:sldId id="266"/>
            <p14:sldId id="267"/>
            <p14:sldId id="26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DCD7E4-ACD7-490B-93CE-A4D07BB7FCEC}" v="8" dt="2026-01-26T10:51:31.6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6BEC3FB-E335-4CA9-8550-00DCE742375D}" type="datetimeFigureOut">
              <a:rPr lang="en-IN" smtClean="0"/>
              <a:t>25-01-2026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D8494D-AE9B-40A6-8EF5-758C0B0A25E0}" type="slidenum">
              <a:rPr lang="en-IN" smtClean="0"/>
              <a:t>‹#›</a:t>
            </a:fld>
            <a:endParaRPr lang="en-IN"/>
          </a:p>
        </p:txBody>
      </p:sp>
    </p:spTree>
    <p:extLst>
      <p:ext uri="{BB962C8B-B14F-4D97-AF65-F5344CB8AC3E}">
        <p14:creationId xmlns:p14="http://schemas.microsoft.com/office/powerpoint/2010/main" val="21004731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6BEC3FB-E335-4CA9-8550-00DCE742375D}" type="datetimeFigureOut">
              <a:rPr lang="en-IN" smtClean="0"/>
              <a:t>25-01-2026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D8494D-AE9B-40A6-8EF5-758C0B0A25E0}" type="slidenum">
              <a:rPr lang="en-IN" smtClean="0"/>
              <a:t>‹#›</a:t>
            </a:fld>
            <a:endParaRPr lang="en-IN"/>
          </a:p>
        </p:txBody>
      </p:sp>
    </p:spTree>
    <p:extLst>
      <p:ext uri="{BB962C8B-B14F-4D97-AF65-F5344CB8AC3E}">
        <p14:creationId xmlns:p14="http://schemas.microsoft.com/office/powerpoint/2010/main" val="2019176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46BEC3FB-E335-4CA9-8550-00DCE742375D}" type="datetimeFigureOut">
              <a:rPr lang="en-IN" smtClean="0"/>
              <a:t>25-01-2026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D8494D-AE9B-40A6-8EF5-758C0B0A25E0}" type="slidenum">
              <a:rPr lang="en-IN" smtClean="0"/>
              <a:t>‹#›</a:t>
            </a:fld>
            <a:endParaRPr lang="en-IN"/>
          </a:p>
        </p:txBody>
      </p:sp>
    </p:spTree>
    <p:extLst>
      <p:ext uri="{BB962C8B-B14F-4D97-AF65-F5344CB8AC3E}">
        <p14:creationId xmlns:p14="http://schemas.microsoft.com/office/powerpoint/2010/main" val="310916579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46BEC3FB-E335-4CA9-8550-00DCE742375D}" type="datetimeFigureOut">
              <a:rPr lang="en-IN" smtClean="0"/>
              <a:t>25-01-2026</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C1D8494D-AE9B-40A6-8EF5-758C0B0A25E0}" type="slidenum">
              <a:rPr lang="en-IN" smtClean="0"/>
              <a:t>‹#›</a:t>
            </a:fld>
            <a:endParaRPr lang="en-IN"/>
          </a:p>
        </p:txBody>
      </p:sp>
    </p:spTree>
    <p:extLst>
      <p:ext uri="{BB962C8B-B14F-4D97-AF65-F5344CB8AC3E}">
        <p14:creationId xmlns:p14="http://schemas.microsoft.com/office/powerpoint/2010/main" val="2643699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6BEC3FB-E335-4CA9-8550-00DCE742375D}" type="datetimeFigureOut">
              <a:rPr lang="en-IN" smtClean="0"/>
              <a:t>25-01-2026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D8494D-AE9B-40A6-8EF5-758C0B0A25E0}"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071148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6BEC3FB-E335-4CA9-8550-00DCE742375D}" type="datetimeFigureOut">
              <a:rPr lang="en-IN" smtClean="0"/>
              <a:t>25-01-2026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D8494D-AE9B-40A6-8EF5-758C0B0A25E0}" type="slidenum">
              <a:rPr lang="en-IN" smtClean="0"/>
              <a:t>‹#›</a:t>
            </a:fld>
            <a:endParaRPr lang="en-IN"/>
          </a:p>
        </p:txBody>
      </p:sp>
    </p:spTree>
    <p:extLst>
      <p:ext uri="{BB962C8B-B14F-4D97-AF65-F5344CB8AC3E}">
        <p14:creationId xmlns:p14="http://schemas.microsoft.com/office/powerpoint/2010/main" val="105731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BEC3FB-E335-4CA9-8550-00DCE742375D}" type="datetimeFigureOut">
              <a:rPr lang="en-IN" smtClean="0"/>
              <a:t>25-01-2026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1D8494D-AE9B-40A6-8EF5-758C0B0A25E0}" type="slidenum">
              <a:rPr lang="en-IN" smtClean="0"/>
              <a:t>‹#›</a:t>
            </a:fld>
            <a:endParaRPr lang="en-IN"/>
          </a:p>
        </p:txBody>
      </p:sp>
    </p:spTree>
    <p:extLst>
      <p:ext uri="{BB962C8B-B14F-4D97-AF65-F5344CB8AC3E}">
        <p14:creationId xmlns:p14="http://schemas.microsoft.com/office/powerpoint/2010/main" val="119838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46BEC3FB-E335-4CA9-8550-00DCE742375D}" type="datetimeFigureOut">
              <a:rPr lang="en-IN" smtClean="0"/>
              <a:t>25-01-2026</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C1D8494D-AE9B-40A6-8EF5-758C0B0A25E0}" type="slidenum">
              <a:rPr lang="en-IN" smtClean="0"/>
              <a:t>‹#›</a:t>
            </a:fld>
            <a:endParaRPr lang="en-IN"/>
          </a:p>
        </p:txBody>
      </p:sp>
    </p:spTree>
    <p:extLst>
      <p:ext uri="{BB962C8B-B14F-4D97-AF65-F5344CB8AC3E}">
        <p14:creationId xmlns:p14="http://schemas.microsoft.com/office/powerpoint/2010/main" val="2875169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46BEC3FB-E335-4CA9-8550-00DCE742375D}" type="datetimeFigureOut">
              <a:rPr lang="en-IN" smtClean="0"/>
              <a:t>25-01-2026</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C1D8494D-AE9B-40A6-8EF5-758C0B0A25E0}" type="slidenum">
              <a:rPr lang="en-IN" smtClean="0"/>
              <a:t>‹#›</a:t>
            </a:fld>
            <a:endParaRPr lang="en-IN"/>
          </a:p>
        </p:txBody>
      </p:sp>
    </p:spTree>
    <p:extLst>
      <p:ext uri="{BB962C8B-B14F-4D97-AF65-F5344CB8AC3E}">
        <p14:creationId xmlns:p14="http://schemas.microsoft.com/office/powerpoint/2010/main" val="3646820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BEC3FB-E335-4CA9-8550-00DCE742375D}" type="datetimeFigureOut">
              <a:rPr lang="en-IN" smtClean="0"/>
              <a:t>25-01-2026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D8494D-AE9B-40A6-8EF5-758C0B0A25E0}" type="slidenum">
              <a:rPr lang="en-IN" smtClean="0"/>
              <a:t>‹#›</a:t>
            </a:fld>
            <a:endParaRPr lang="en-IN"/>
          </a:p>
        </p:txBody>
      </p:sp>
    </p:spTree>
    <p:extLst>
      <p:ext uri="{BB962C8B-B14F-4D97-AF65-F5344CB8AC3E}">
        <p14:creationId xmlns:p14="http://schemas.microsoft.com/office/powerpoint/2010/main" val="3402416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BEC3FB-E335-4CA9-8550-00DCE742375D}" type="datetimeFigureOut">
              <a:rPr lang="en-IN" smtClean="0"/>
              <a:t>25-01-2026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D8494D-AE9B-40A6-8EF5-758C0B0A25E0}" type="slidenum">
              <a:rPr lang="en-IN" smtClean="0"/>
              <a:t>‹#›</a:t>
            </a:fld>
            <a:endParaRPr lang="en-IN"/>
          </a:p>
        </p:txBody>
      </p:sp>
    </p:spTree>
    <p:extLst>
      <p:ext uri="{BB962C8B-B14F-4D97-AF65-F5344CB8AC3E}">
        <p14:creationId xmlns:p14="http://schemas.microsoft.com/office/powerpoint/2010/main" val="1051112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46BEC3FB-E335-4CA9-8550-00DCE742375D}" type="datetimeFigureOut">
              <a:rPr lang="en-IN" smtClean="0"/>
              <a:t>25-01-2026</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C1D8494D-AE9B-40A6-8EF5-758C0B0A25E0}" type="slidenum">
              <a:rPr lang="en-IN" smtClean="0"/>
              <a:t>‹#›</a:t>
            </a:fld>
            <a:endParaRPr lang="en-IN"/>
          </a:p>
        </p:txBody>
      </p:sp>
    </p:spTree>
    <p:extLst>
      <p:ext uri="{BB962C8B-B14F-4D97-AF65-F5344CB8AC3E}">
        <p14:creationId xmlns:p14="http://schemas.microsoft.com/office/powerpoint/2010/main" val="233569825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hyperlink" Target="https://www.eeeguide.com/#blogger"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www.eeeonline.org/"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26A3-3193-7ED5-D178-776F1C8EE313}"/>
              </a:ext>
            </a:extLst>
          </p:cNvPr>
          <p:cNvSpPr>
            <a:spLocks noGrp="1"/>
          </p:cNvSpPr>
          <p:nvPr>
            <p:ph type="ctrTitle"/>
          </p:nvPr>
        </p:nvSpPr>
        <p:spPr/>
        <p:txBody>
          <a:bodyPr/>
          <a:lstStyle/>
          <a:p>
            <a:r>
              <a:rPr lang="en-IN" dirty="0"/>
              <a:t>Serial communication interface (8251)</a:t>
            </a:r>
          </a:p>
        </p:txBody>
      </p:sp>
      <p:sp>
        <p:nvSpPr>
          <p:cNvPr id="3" name="Subtitle 2">
            <a:extLst>
              <a:ext uri="{FF2B5EF4-FFF2-40B4-BE49-F238E27FC236}">
                <a16:creationId xmlns:a16="http://schemas.microsoft.com/office/drawing/2014/main" id="{50CB1EF5-A4AC-1FF7-A27F-56EF424C080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014507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D9D16-8026-F03F-0F18-9BECDF50DC6D}"/>
              </a:ext>
            </a:extLst>
          </p:cNvPr>
          <p:cNvSpPr>
            <a:spLocks noGrp="1"/>
          </p:cNvSpPr>
          <p:nvPr>
            <p:ph type="title"/>
          </p:nvPr>
        </p:nvSpPr>
        <p:spPr>
          <a:xfrm>
            <a:off x="1615672" y="1"/>
            <a:ext cx="7729728" cy="630258"/>
          </a:xfrm>
        </p:spPr>
        <p:txBody>
          <a:bodyPr>
            <a:normAutofit fontScale="90000"/>
          </a:bodyPr>
          <a:lstStyle/>
          <a:p>
            <a:r>
              <a:rPr lang="en-IN" dirty="0"/>
              <a:t>introduction</a:t>
            </a:r>
          </a:p>
        </p:txBody>
      </p:sp>
      <p:sp>
        <p:nvSpPr>
          <p:cNvPr id="4" name="Rectangle 1">
            <a:extLst>
              <a:ext uri="{FF2B5EF4-FFF2-40B4-BE49-F238E27FC236}">
                <a16:creationId xmlns:a16="http://schemas.microsoft.com/office/drawing/2014/main" id="{D42C34D3-760E-EF1C-68A1-CEA981B49A44}"/>
              </a:ext>
            </a:extLst>
          </p:cNvPr>
          <p:cNvSpPr>
            <a:spLocks noGrp="1" noChangeArrowheads="1"/>
          </p:cNvSpPr>
          <p:nvPr>
            <p:ph idx="1"/>
          </p:nvPr>
        </p:nvSpPr>
        <p:spPr bwMode="auto">
          <a:xfrm>
            <a:off x="1297072" y="1184256"/>
            <a:ext cx="8048328" cy="581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rgbClr val="000000"/>
                </a:solidFill>
                <a:effectLst/>
                <a:latin typeface="Bahnschrift SemiBold Condensed" panose="020B0502040204020203" pitchFamily="34" charset="0"/>
              </a:rPr>
              <a:t>Most of the microprocessors are designed for parallel communication.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rgbClr val="000000"/>
                </a:solidFill>
                <a:effectLst/>
                <a:latin typeface="Bahnschrift SemiBold Condensed" panose="020B0502040204020203" pitchFamily="34" charset="0"/>
              </a:rPr>
              <a:t>In parallel communication number of lines required to transfer data depend on the number of bits to be transferred. </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rgbClr val="000000"/>
                </a:solidFill>
                <a:effectLst/>
                <a:latin typeface="Bahnschrift SemiBold Condensed" panose="020B0502040204020203" pitchFamily="34" charset="0"/>
              </a:rPr>
              <a:t>For example, to transfer a byte of data, 8 lines are required and all 8 bits are transferred simultaneously.</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rgbClr val="000000"/>
                </a:solidFill>
                <a:effectLst/>
                <a:latin typeface="Bahnschrift SemiBold Condensed" panose="020B0502040204020203" pitchFamily="34" charset="0"/>
              </a:rPr>
              <a:t> Thus for transmitting data over a long distance, using parallel communication is impractical due to the increase in cost of cabling.</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rgbClr val="000000"/>
                </a:solidFill>
                <a:effectLst/>
                <a:latin typeface="Bahnschrift SemiBold Condensed" panose="020B0502040204020203" pitchFamily="34" charset="0"/>
              </a:rPr>
              <a:t> In such situations, serial communication is used. In Serial Communication Interface 8251, one bit is transferred at a time over a single line.</a:t>
            </a:r>
            <a:endParaRPr kumimoji="0" lang="en-US" altLang="en-US" sz="2400" b="0" i="0" u="none" strike="noStrike" cap="none" normalizeH="0" baseline="0" dirty="0">
              <a:ln>
                <a:noFill/>
              </a:ln>
              <a:solidFill>
                <a:schemeClr val="tx1"/>
              </a:solidFill>
              <a:effectLst/>
              <a:latin typeface="Bahnschrift SemiBold Condensed" panose="020B0502040204020203"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2400" b="0" i="0" u="none" strike="noStrike" cap="none" normalizeH="0" baseline="0" dirty="0">
                <a:ln>
                  <a:noFill/>
                </a:ln>
                <a:solidFill>
                  <a:srgbClr val="000000"/>
                </a:solidFill>
                <a:effectLst/>
                <a:latin typeface="Bahnschrift SemiBold Condensed" panose="020B0502040204020203" pitchFamily="34" charset="0"/>
              </a:rPr>
            </a:br>
            <a:endParaRPr kumimoji="0" lang="en-US" altLang="en-US" sz="2400" b="0" i="0" u="none" strike="noStrike" cap="none" normalizeH="0" baseline="0" dirty="0">
              <a:ln>
                <a:noFill/>
              </a:ln>
              <a:solidFill>
                <a:schemeClr val="tx1"/>
              </a:solidFill>
              <a:effectLst/>
              <a:latin typeface="Bahnschrift SemiBold Condensed" panose="020B0502040204020203" pitchFamily="34" charset="0"/>
            </a:endParaRPr>
          </a:p>
        </p:txBody>
      </p:sp>
    </p:spTree>
    <p:extLst>
      <p:ext uri="{BB962C8B-B14F-4D97-AF65-F5344CB8AC3E}">
        <p14:creationId xmlns:p14="http://schemas.microsoft.com/office/powerpoint/2010/main" val="3937228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F3D9A9-1AAD-A3C3-6D9C-04C17B0068FD}"/>
              </a:ext>
            </a:extLst>
          </p:cNvPr>
          <p:cNvSpPr txBox="1"/>
          <p:nvPr/>
        </p:nvSpPr>
        <p:spPr>
          <a:xfrm>
            <a:off x="3048000" y="3108293"/>
            <a:ext cx="4617218" cy="369332"/>
          </a:xfrm>
          <a:prstGeom prst="rect">
            <a:avLst/>
          </a:prstGeom>
          <a:noFill/>
        </p:spPr>
        <p:txBody>
          <a:bodyPr wrap="square">
            <a:spAutoFit/>
          </a:bodyPr>
          <a:lstStyle/>
          <a:p>
            <a:pPr marL="285750" indent="-285750" algn="just">
              <a:buFont typeface="Arial" panose="020B0604020202020204" pitchFamily="34" charset="0"/>
              <a:buChar char="•"/>
            </a:pPr>
            <a:endParaRPr lang="en-IN" dirty="0"/>
          </a:p>
        </p:txBody>
      </p:sp>
      <p:sp>
        <p:nvSpPr>
          <p:cNvPr id="4" name="TextBox 3">
            <a:extLst>
              <a:ext uri="{FF2B5EF4-FFF2-40B4-BE49-F238E27FC236}">
                <a16:creationId xmlns:a16="http://schemas.microsoft.com/office/drawing/2014/main" id="{A0D7E5AA-AB7B-AAAD-2A56-FBB7A149BA28}"/>
              </a:ext>
            </a:extLst>
          </p:cNvPr>
          <p:cNvSpPr txBox="1"/>
          <p:nvPr/>
        </p:nvSpPr>
        <p:spPr>
          <a:xfrm>
            <a:off x="324465" y="-31028"/>
            <a:ext cx="11189109" cy="6340197"/>
          </a:xfrm>
          <a:prstGeom prst="rect">
            <a:avLst/>
          </a:prstGeom>
          <a:noFill/>
        </p:spPr>
        <p:txBody>
          <a:bodyPr wrap="square">
            <a:spAutoFit/>
          </a:bodyPr>
          <a:lstStyle/>
          <a:p>
            <a:endParaRPr lang="en-US" dirty="0"/>
          </a:p>
          <a:p>
            <a:r>
              <a:rPr lang="en-US" sz="2400" b="1" u="sng" dirty="0"/>
              <a:t>Serial data transmission can be classified on the basis of how transmission occurs.</a:t>
            </a:r>
          </a:p>
          <a:p>
            <a:pPr marL="285750" indent="-285750">
              <a:buFont typeface="Wingdings" panose="05000000000000000000" pitchFamily="2" charset="2"/>
              <a:buChar char="§"/>
            </a:pPr>
            <a:endParaRPr lang="en-US" sz="2400" b="1" dirty="0"/>
          </a:p>
          <a:p>
            <a:pPr marL="285750" indent="-285750">
              <a:buFont typeface="Wingdings" panose="05000000000000000000" pitchFamily="2" charset="2"/>
              <a:buChar char="§"/>
            </a:pPr>
            <a:r>
              <a:rPr lang="en-US" sz="2400" dirty="0">
                <a:latin typeface="Bahnschrift SemiBold" panose="020B0502040204020203" pitchFamily="34" charset="0"/>
              </a:rPr>
              <a:t>Simplex</a:t>
            </a:r>
          </a:p>
          <a:p>
            <a:pPr marL="285750" indent="-285750">
              <a:buFont typeface="Wingdings" panose="05000000000000000000" pitchFamily="2" charset="2"/>
              <a:buChar char="§"/>
            </a:pPr>
            <a:r>
              <a:rPr lang="en-US" sz="2400" dirty="0">
                <a:latin typeface="Bahnschrift SemiBold" panose="020B0502040204020203" pitchFamily="34" charset="0"/>
              </a:rPr>
              <a:t>Half duplex</a:t>
            </a:r>
          </a:p>
          <a:p>
            <a:pPr marL="285750" indent="-285750">
              <a:buFont typeface="Wingdings" panose="05000000000000000000" pitchFamily="2" charset="2"/>
              <a:buChar char="§"/>
            </a:pPr>
            <a:r>
              <a:rPr lang="en-US" sz="2400" dirty="0">
                <a:latin typeface="Bahnschrift SemiBold" panose="020B0502040204020203" pitchFamily="34" charset="0"/>
              </a:rPr>
              <a:t>Full duplex</a:t>
            </a:r>
          </a:p>
          <a:p>
            <a:endParaRPr lang="en-US" sz="2400" dirty="0">
              <a:latin typeface="Bahnschrift SemiBold" panose="020B0502040204020203" pitchFamily="34" charset="0"/>
            </a:endParaRPr>
          </a:p>
          <a:p>
            <a:endParaRPr lang="en-US" sz="2400" dirty="0">
              <a:latin typeface="Bahnschrift SemiBold" panose="020B0502040204020203" pitchFamily="34" charset="0"/>
            </a:endParaRPr>
          </a:p>
          <a:p>
            <a:r>
              <a:rPr lang="en-US" sz="2400" dirty="0">
                <a:latin typeface="Bahnschrift SemiBold" panose="020B0502040204020203" pitchFamily="34" charset="0"/>
              </a:rPr>
              <a:t>1. </a:t>
            </a:r>
            <a:r>
              <a:rPr lang="en-US" sz="2800" u="sng" dirty="0">
                <a:latin typeface="Bahnschrift SemiBold" panose="020B0502040204020203" pitchFamily="34" charset="0"/>
              </a:rPr>
              <a:t>Simplex</a:t>
            </a:r>
          </a:p>
          <a:p>
            <a:r>
              <a:rPr lang="en-US" sz="2400" dirty="0">
                <a:latin typeface="Bahnschrift SemiBold" panose="020B0502040204020203" pitchFamily="34" charset="0"/>
              </a:rPr>
              <a:t>In simplex, the hardware exists such that data transfer takes place only in one direction. There is no possibility of data transfer in the other direction. A typical example is transmission from a computer to the printer.</a:t>
            </a:r>
          </a:p>
          <a:p>
            <a:endParaRPr lang="en-US" sz="2400" dirty="0">
              <a:latin typeface="Bahnschrift SemiBold" panose="020B0502040204020203" pitchFamily="34" charset="0"/>
            </a:endParaRPr>
          </a:p>
          <a:p>
            <a:r>
              <a:rPr lang="en-US" sz="2400" dirty="0">
                <a:latin typeface="Bahnschrift SemiBold" panose="020B0502040204020203" pitchFamily="34" charset="0"/>
              </a:rPr>
              <a:t>2. </a:t>
            </a:r>
            <a:r>
              <a:rPr lang="en-US" sz="2800" u="sng" dirty="0">
                <a:latin typeface="Bahnschrift SemiBold" panose="020B0502040204020203" pitchFamily="34" charset="0"/>
              </a:rPr>
              <a:t>Half Duplex</a:t>
            </a:r>
          </a:p>
          <a:p>
            <a:r>
              <a:rPr lang="en-US" sz="2400" dirty="0">
                <a:latin typeface="Bahnschrift SemiBold" panose="020B0502040204020203" pitchFamily="34" charset="0"/>
              </a:rPr>
              <a:t>The half duplex transmission allows the data transfer in both directions, but not simultaneously. A typical example is a walkie-talkie</a:t>
            </a:r>
            <a:r>
              <a:rPr lang="en-US" sz="2000" dirty="0">
                <a:latin typeface="Bahnschrift SemiBold" panose="020B0502040204020203" pitchFamily="34" charset="0"/>
              </a:rPr>
              <a:t>.</a:t>
            </a:r>
            <a:endParaRPr lang="en-IN" sz="2000" dirty="0">
              <a:latin typeface="Bahnschrift SemiBold" panose="020B0502040204020203" pitchFamily="34" charset="0"/>
            </a:endParaRPr>
          </a:p>
        </p:txBody>
      </p:sp>
    </p:spTree>
    <p:extLst>
      <p:ext uri="{BB962C8B-B14F-4D97-AF65-F5344CB8AC3E}">
        <p14:creationId xmlns:p14="http://schemas.microsoft.com/office/powerpoint/2010/main" val="41915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193CE4-EE56-7DC3-464C-8CD7E5AE5DF7}"/>
              </a:ext>
            </a:extLst>
          </p:cNvPr>
          <p:cNvSpPr txBox="1"/>
          <p:nvPr/>
        </p:nvSpPr>
        <p:spPr>
          <a:xfrm>
            <a:off x="83574" y="116955"/>
            <a:ext cx="11690555" cy="2862322"/>
          </a:xfrm>
          <a:prstGeom prst="rect">
            <a:avLst/>
          </a:prstGeom>
          <a:noFill/>
        </p:spPr>
        <p:txBody>
          <a:bodyPr wrap="square">
            <a:spAutoFit/>
          </a:bodyPr>
          <a:lstStyle/>
          <a:p>
            <a:r>
              <a:rPr lang="en-US" sz="2000" dirty="0">
                <a:latin typeface="Bahnschrift SemiBold Condensed" panose="020B0502040204020203" pitchFamily="34" charset="0"/>
              </a:rPr>
              <a:t>3. </a:t>
            </a:r>
            <a:r>
              <a:rPr lang="en-US" sz="2800" dirty="0">
                <a:highlight>
                  <a:srgbClr val="C0C0C0"/>
                </a:highlight>
                <a:latin typeface="Bahnschrift SemiBold Condensed" panose="020B0502040204020203" pitchFamily="34" charset="0"/>
              </a:rPr>
              <a:t>Full Duplex</a:t>
            </a:r>
          </a:p>
          <a:p>
            <a:endParaRPr lang="en-US" sz="2400" dirty="0">
              <a:latin typeface="Bahnschrift SemiBold Condensed" panose="020B0502040204020203" pitchFamily="34" charset="0"/>
            </a:endParaRPr>
          </a:p>
          <a:p>
            <a:r>
              <a:rPr lang="en-US" sz="2800" dirty="0">
                <a:latin typeface="Bahnschrift SemiBold Condensed" panose="020B0502040204020203" pitchFamily="34" charset="0"/>
              </a:rPr>
              <a:t>The full duplex transmission allows the data transfer in both direction simultaneously. The typical example is transmission through telephone lines.</a:t>
            </a:r>
          </a:p>
          <a:p>
            <a:endParaRPr lang="en-US" sz="2800" dirty="0">
              <a:latin typeface="Bahnschrift SemiBold Condensed" panose="020B0502040204020203" pitchFamily="34" charset="0"/>
            </a:endParaRPr>
          </a:p>
          <a:p>
            <a:endParaRPr lang="en-US" sz="2000" dirty="0">
              <a:latin typeface="Bahnschrift SemiBold Condensed" panose="020B0502040204020203" pitchFamily="34" charset="0"/>
            </a:endParaRPr>
          </a:p>
          <a:p>
            <a:endParaRPr lang="en-US" sz="2400" dirty="0">
              <a:latin typeface="Bahnschrift SemiBold Condensed" panose="020B0502040204020203" pitchFamily="34" charset="0"/>
            </a:endParaRPr>
          </a:p>
        </p:txBody>
      </p:sp>
      <p:sp>
        <p:nvSpPr>
          <p:cNvPr id="4" name="TextBox 3">
            <a:extLst>
              <a:ext uri="{FF2B5EF4-FFF2-40B4-BE49-F238E27FC236}">
                <a16:creationId xmlns:a16="http://schemas.microsoft.com/office/drawing/2014/main" id="{9AD05C6A-B0E1-D427-4DF9-E30238BC29EC}"/>
              </a:ext>
            </a:extLst>
          </p:cNvPr>
          <p:cNvSpPr txBox="1"/>
          <p:nvPr/>
        </p:nvSpPr>
        <p:spPr>
          <a:xfrm>
            <a:off x="186812" y="4745165"/>
            <a:ext cx="5978013" cy="923330"/>
          </a:xfrm>
          <a:prstGeom prst="rect">
            <a:avLst/>
          </a:prstGeom>
          <a:noFill/>
        </p:spPr>
        <p:txBody>
          <a:bodyPr wrap="square" rtlCol="0">
            <a:spAutoFit/>
          </a:bodyPr>
          <a:lstStyle/>
          <a:p>
            <a:pPr>
              <a:lnSpc>
                <a:spcPct val="150000"/>
              </a:lnSpc>
            </a:pPr>
            <a:r>
              <a:rPr lang="en-US" sz="2400" dirty="0">
                <a:latin typeface="Bahnschrift SemiBold Condensed" panose="020B0502040204020203" pitchFamily="34" charset="0"/>
              </a:rPr>
              <a:t> </a:t>
            </a:r>
          </a:p>
          <a:p>
            <a:endParaRPr lang="en-IN" dirty="0"/>
          </a:p>
        </p:txBody>
      </p:sp>
      <p:sp>
        <p:nvSpPr>
          <p:cNvPr id="7" name="TextBox 6">
            <a:extLst>
              <a:ext uri="{FF2B5EF4-FFF2-40B4-BE49-F238E27FC236}">
                <a16:creationId xmlns:a16="http://schemas.microsoft.com/office/drawing/2014/main" id="{3FB0EF6C-5465-F0E7-374A-C0226EAB64AB}"/>
              </a:ext>
            </a:extLst>
          </p:cNvPr>
          <p:cNvSpPr txBox="1"/>
          <p:nvPr/>
        </p:nvSpPr>
        <p:spPr>
          <a:xfrm>
            <a:off x="333854" y="3999614"/>
            <a:ext cx="2192594" cy="523220"/>
          </a:xfrm>
          <a:prstGeom prst="rect">
            <a:avLst/>
          </a:prstGeom>
          <a:noFill/>
        </p:spPr>
        <p:txBody>
          <a:bodyPr wrap="square" rtlCol="0">
            <a:spAutoFit/>
          </a:bodyPr>
          <a:lstStyle/>
          <a:p>
            <a:r>
              <a:rPr lang="en-IN" sz="2800" dirty="0">
                <a:latin typeface="Bahnschrift SemiBold Condensed" panose="020B0502040204020203" pitchFamily="34" charset="0"/>
              </a:rPr>
              <a:t>                                                                                                              </a:t>
            </a:r>
          </a:p>
        </p:txBody>
      </p:sp>
      <p:sp>
        <p:nvSpPr>
          <p:cNvPr id="9" name="Text Placeholder 8">
            <a:extLst>
              <a:ext uri="{FF2B5EF4-FFF2-40B4-BE49-F238E27FC236}">
                <a16:creationId xmlns:a16="http://schemas.microsoft.com/office/drawing/2014/main" id="{259626C5-0C06-5242-C1F8-3A68D1A33377}"/>
              </a:ext>
            </a:extLst>
          </p:cNvPr>
          <p:cNvSpPr>
            <a:spLocks noGrp="1"/>
          </p:cNvSpPr>
          <p:nvPr>
            <p:ph type="body" idx="1"/>
          </p:nvPr>
        </p:nvSpPr>
        <p:spPr>
          <a:xfrm>
            <a:off x="0" y="3020410"/>
            <a:ext cx="4270248" cy="704087"/>
          </a:xfrm>
        </p:spPr>
        <p:txBody>
          <a:bodyPr/>
          <a:lstStyle/>
          <a:p>
            <a:r>
              <a:rPr lang="en-IN" dirty="0"/>
              <a:t>ASYNCHRONOUS</a:t>
            </a:r>
          </a:p>
        </p:txBody>
      </p:sp>
      <p:sp>
        <p:nvSpPr>
          <p:cNvPr id="10" name="Content Placeholder 9">
            <a:extLst>
              <a:ext uri="{FF2B5EF4-FFF2-40B4-BE49-F238E27FC236}">
                <a16:creationId xmlns:a16="http://schemas.microsoft.com/office/drawing/2014/main" id="{260B4211-1239-F5E9-0348-67DEF7357AD0}"/>
              </a:ext>
            </a:extLst>
          </p:cNvPr>
          <p:cNvSpPr>
            <a:spLocks noGrp="1"/>
          </p:cNvSpPr>
          <p:nvPr>
            <p:ph sz="half" idx="2"/>
          </p:nvPr>
        </p:nvSpPr>
        <p:spPr>
          <a:xfrm>
            <a:off x="333854" y="3776345"/>
            <a:ext cx="4270248" cy="2596776"/>
          </a:xfrm>
        </p:spPr>
        <p:txBody>
          <a:bodyPr>
            <a:noAutofit/>
          </a:bodyPr>
          <a:lstStyle/>
          <a:p>
            <a:pPr>
              <a:lnSpc>
                <a:spcPct val="160000"/>
              </a:lnSpc>
            </a:pPr>
            <a:r>
              <a:rPr lang="en-US" sz="2400" dirty="0">
                <a:latin typeface="Bahnschrift SemiBold Condensed" panose="020B0502040204020203" pitchFamily="34" charset="0"/>
              </a:rPr>
              <a:t>In this, the bits of a character or data word are sent at a constant rate, but characters can come at any rate (asynchronously) as long as they do not overlap.</a:t>
            </a:r>
            <a:endParaRPr lang="en-IN" sz="2400" dirty="0"/>
          </a:p>
        </p:txBody>
      </p:sp>
      <p:sp>
        <p:nvSpPr>
          <p:cNvPr id="11" name="Content Placeholder 10">
            <a:extLst>
              <a:ext uri="{FF2B5EF4-FFF2-40B4-BE49-F238E27FC236}">
                <a16:creationId xmlns:a16="http://schemas.microsoft.com/office/drawing/2014/main" id="{39853078-2266-0D79-531A-E561F10D4233}"/>
              </a:ext>
            </a:extLst>
          </p:cNvPr>
          <p:cNvSpPr>
            <a:spLocks noGrp="1"/>
          </p:cNvSpPr>
          <p:nvPr>
            <p:ph sz="quarter" idx="4"/>
          </p:nvPr>
        </p:nvSpPr>
        <p:spPr>
          <a:xfrm>
            <a:off x="6659291" y="3776345"/>
            <a:ext cx="4253484" cy="2596776"/>
          </a:xfrm>
        </p:spPr>
        <p:txBody>
          <a:bodyPr>
            <a:normAutofit fontScale="92500"/>
          </a:bodyPr>
          <a:lstStyle/>
          <a:p>
            <a:pPr>
              <a:lnSpc>
                <a:spcPct val="160000"/>
              </a:lnSpc>
            </a:pPr>
            <a:r>
              <a:rPr lang="en-US" sz="2600" dirty="0">
                <a:latin typeface="Bahnschrift SemiBold Condensed" panose="020B0502040204020203" pitchFamily="34" charset="0"/>
              </a:rPr>
              <a:t>The start and stop bits in each frame of asynchronous format represents wasted overhead bytes that reduce the overall character rate.</a:t>
            </a:r>
          </a:p>
          <a:p>
            <a:endParaRPr lang="en-IN" dirty="0"/>
          </a:p>
        </p:txBody>
      </p:sp>
      <p:sp>
        <p:nvSpPr>
          <p:cNvPr id="12" name="Text Placeholder 11">
            <a:extLst>
              <a:ext uri="{FF2B5EF4-FFF2-40B4-BE49-F238E27FC236}">
                <a16:creationId xmlns:a16="http://schemas.microsoft.com/office/drawing/2014/main" id="{4D6F848F-2F45-BAF7-35B3-23B9157D7D56}"/>
              </a:ext>
            </a:extLst>
          </p:cNvPr>
          <p:cNvSpPr>
            <a:spLocks noGrp="1"/>
          </p:cNvSpPr>
          <p:nvPr>
            <p:ph type="body" sz="quarter" idx="13"/>
          </p:nvPr>
        </p:nvSpPr>
        <p:spPr>
          <a:xfrm>
            <a:off x="6495043" y="3008120"/>
            <a:ext cx="4270248" cy="704087"/>
          </a:xfrm>
        </p:spPr>
        <p:txBody>
          <a:bodyPr/>
          <a:lstStyle/>
          <a:p>
            <a:r>
              <a:rPr lang="en-IN" dirty="0"/>
              <a:t>SYNCHRONOUS</a:t>
            </a:r>
          </a:p>
        </p:txBody>
      </p:sp>
      <p:sp>
        <p:nvSpPr>
          <p:cNvPr id="8" name="Title 7">
            <a:extLst>
              <a:ext uri="{FF2B5EF4-FFF2-40B4-BE49-F238E27FC236}">
                <a16:creationId xmlns:a16="http://schemas.microsoft.com/office/drawing/2014/main" id="{06AFA8E8-79E1-26D2-A1E8-0BD3451A1D31}"/>
              </a:ext>
            </a:extLst>
          </p:cNvPr>
          <p:cNvSpPr>
            <a:spLocks noGrp="1"/>
          </p:cNvSpPr>
          <p:nvPr>
            <p:ph type="title"/>
          </p:nvPr>
        </p:nvSpPr>
        <p:spPr>
          <a:xfrm>
            <a:off x="83574" y="2178651"/>
            <a:ext cx="12108426" cy="712751"/>
          </a:xfrm>
        </p:spPr>
        <p:txBody>
          <a:bodyPr>
            <a:noAutofit/>
          </a:bodyPr>
          <a:lstStyle/>
          <a:p>
            <a:r>
              <a:rPr lang="en-US" sz="2400" b="1" u="sng" dirty="0">
                <a:latin typeface="Bahnschrift SemiBold Condensed" panose="020B0502040204020203" pitchFamily="34" charset="0"/>
              </a:rPr>
              <a:t>The data in the Serial Communication Interface 8251 may be sent in two formats </a:t>
            </a:r>
            <a:br>
              <a:rPr lang="en-US" sz="2400" b="1" u="sng" dirty="0">
                <a:highlight>
                  <a:srgbClr val="808080"/>
                </a:highlight>
                <a:latin typeface="Bahnschrift SemiBold Condensed" panose="020B0502040204020203" pitchFamily="34" charset="0"/>
              </a:rPr>
            </a:br>
            <a:endParaRPr lang="en-IN" sz="2400" dirty="0"/>
          </a:p>
        </p:txBody>
      </p:sp>
    </p:spTree>
    <p:extLst>
      <p:ext uri="{BB962C8B-B14F-4D97-AF65-F5344CB8AC3E}">
        <p14:creationId xmlns:p14="http://schemas.microsoft.com/office/powerpoint/2010/main" val="3034567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1DB7EF-C1FB-3068-9DD5-194D085598C3}"/>
              </a:ext>
            </a:extLst>
          </p:cNvPr>
          <p:cNvSpPr>
            <a:spLocks noGrp="1"/>
          </p:cNvSpPr>
          <p:nvPr>
            <p:ph sz="half" idx="4294967295"/>
          </p:nvPr>
        </p:nvSpPr>
        <p:spPr>
          <a:xfrm>
            <a:off x="249238" y="129561"/>
            <a:ext cx="6918325" cy="5405950"/>
          </a:xfrm>
        </p:spPr>
        <p:txBody>
          <a:bodyPr>
            <a:normAutofit fontScale="25000" lnSpcReduction="20000"/>
          </a:bodyPr>
          <a:lstStyle/>
          <a:p>
            <a:pPr marL="457200" indent="-457200">
              <a:buAutoNum type="arabicPeriod"/>
            </a:pPr>
            <a:endParaRPr lang="en-US" sz="2000" dirty="0">
              <a:latin typeface="Bahnschrift SemiBold Condensed" panose="020B0502040204020203" pitchFamily="34" charset="0"/>
            </a:endParaRPr>
          </a:p>
          <a:p>
            <a:pPr marL="457200" indent="-457200">
              <a:buAutoNum type="arabicPeriod"/>
            </a:pPr>
            <a:endParaRPr lang="en-US" sz="2000" dirty="0">
              <a:latin typeface="Bahnschrift SemiBold Condensed" panose="020B0502040204020203" pitchFamily="34" charset="0"/>
            </a:endParaRPr>
          </a:p>
          <a:p>
            <a:pPr marL="342900" indent="-342900">
              <a:lnSpc>
                <a:spcPct val="170000"/>
              </a:lnSpc>
              <a:buFont typeface="Wingdings" panose="05000000000000000000" pitchFamily="2" charset="2"/>
              <a:buChar char="§"/>
            </a:pPr>
            <a:r>
              <a:rPr lang="en-US" sz="9600" dirty="0">
                <a:latin typeface="Bahnschrift SemiBold Condensed" panose="020B0502040204020203" pitchFamily="34" charset="0"/>
              </a:rPr>
              <a:t>When no characters are being sent, a line stays high at logic 1 called mark, logic 0 is called space. </a:t>
            </a:r>
          </a:p>
          <a:p>
            <a:pPr marL="342900" indent="-342900">
              <a:lnSpc>
                <a:spcPct val="170000"/>
              </a:lnSpc>
              <a:buFont typeface="Wingdings" panose="05000000000000000000" pitchFamily="2" charset="2"/>
              <a:buChar char="§"/>
            </a:pPr>
            <a:r>
              <a:rPr lang="en-US" sz="9600" dirty="0">
                <a:latin typeface="Bahnschrift SemiBold Condensed" panose="020B0502040204020203" pitchFamily="34" charset="0"/>
              </a:rPr>
              <a:t>The beginning of a character is indicated by a start bit which is always low. </a:t>
            </a:r>
          </a:p>
          <a:p>
            <a:pPr marL="342900" indent="-342900">
              <a:lnSpc>
                <a:spcPct val="170000"/>
              </a:lnSpc>
              <a:buFont typeface="Wingdings" panose="05000000000000000000" pitchFamily="2" charset="2"/>
              <a:buChar char="§"/>
            </a:pPr>
            <a:r>
              <a:rPr lang="en-US" sz="9600" dirty="0">
                <a:latin typeface="Bahnschrift SemiBold Condensed" panose="020B0502040204020203" pitchFamily="34" charset="0"/>
              </a:rPr>
              <a:t>This is used to synchronize the transmitter and receiver.</a:t>
            </a:r>
          </a:p>
          <a:p>
            <a:pPr marL="342900" indent="-342900">
              <a:lnSpc>
                <a:spcPct val="170000"/>
              </a:lnSpc>
              <a:buFont typeface="Wingdings" panose="05000000000000000000" pitchFamily="2" charset="2"/>
              <a:buChar char="§"/>
            </a:pPr>
            <a:r>
              <a:rPr lang="en-US" sz="9600" dirty="0">
                <a:latin typeface="Bahnschrift SemiBold Condensed" panose="020B0502040204020203" pitchFamily="34" charset="0"/>
              </a:rPr>
              <a:t> After the start bit, the data bits are sent with least significant bit first, followed by one or more stop bits (active high).</a:t>
            </a:r>
          </a:p>
          <a:p>
            <a:pPr marL="342900" indent="-342900">
              <a:lnSpc>
                <a:spcPct val="170000"/>
              </a:lnSpc>
              <a:buFont typeface="Wingdings" panose="05000000000000000000" pitchFamily="2" charset="2"/>
              <a:buChar char="§"/>
            </a:pPr>
            <a:r>
              <a:rPr lang="en-US" sz="9600" dirty="0">
                <a:solidFill>
                  <a:srgbClr val="000000"/>
                </a:solidFill>
                <a:latin typeface="Bahnschrift SemiBold Condensed" panose="020B0502040204020203" pitchFamily="34" charset="0"/>
              </a:rPr>
              <a:t>The stop bits indicate the end of character. </a:t>
            </a:r>
          </a:p>
          <a:p>
            <a:pPr marL="342900" indent="-342900">
              <a:lnSpc>
                <a:spcPct val="170000"/>
              </a:lnSpc>
              <a:buFont typeface="Wingdings" panose="05000000000000000000" pitchFamily="2" charset="2"/>
              <a:buChar char="§"/>
            </a:pPr>
            <a:r>
              <a:rPr lang="en-US" sz="9600" dirty="0">
                <a:solidFill>
                  <a:srgbClr val="000000"/>
                </a:solidFill>
                <a:latin typeface="Bahnschrift SemiBold Condensed" panose="020B0502040204020203" pitchFamily="34" charset="0"/>
              </a:rPr>
              <a:t>The start and stop bits carry no information, but are required because of the asynchronous nature of data. </a:t>
            </a:r>
            <a:endParaRPr lang="en-US" sz="9600" dirty="0">
              <a:solidFill>
                <a:srgbClr val="000000"/>
              </a:solidFill>
            </a:endParaRPr>
          </a:p>
          <a:p>
            <a:pPr marL="342900" indent="-342900">
              <a:lnSpc>
                <a:spcPct val="150000"/>
              </a:lnSpc>
              <a:buFont typeface="Wingdings" panose="05000000000000000000" pitchFamily="2" charset="2"/>
              <a:buChar char="§"/>
            </a:pPr>
            <a:endParaRPr lang="en-US" sz="8000" dirty="0">
              <a:latin typeface="Bahnschrift SemiBold Condensed" panose="020B0502040204020203" pitchFamily="34" charset="0"/>
            </a:endParaRPr>
          </a:p>
          <a:p>
            <a:endParaRPr lang="en-IN" dirty="0"/>
          </a:p>
        </p:txBody>
      </p:sp>
      <p:sp>
        <p:nvSpPr>
          <p:cNvPr id="4" name="Content Placeholder 3">
            <a:extLst>
              <a:ext uri="{FF2B5EF4-FFF2-40B4-BE49-F238E27FC236}">
                <a16:creationId xmlns:a16="http://schemas.microsoft.com/office/drawing/2014/main" id="{FD86C98A-23E7-C316-7028-CF08A79DF4F9}"/>
              </a:ext>
            </a:extLst>
          </p:cNvPr>
          <p:cNvSpPr>
            <a:spLocks noGrp="1"/>
          </p:cNvSpPr>
          <p:nvPr>
            <p:ph sz="quarter" idx="4294967295"/>
          </p:nvPr>
        </p:nvSpPr>
        <p:spPr>
          <a:xfrm>
            <a:off x="7167563" y="560439"/>
            <a:ext cx="5024437" cy="6297561"/>
          </a:xfrm>
        </p:spPr>
        <p:txBody>
          <a:bodyPr>
            <a:normAutofit fontScale="40000" lnSpcReduction="20000"/>
          </a:bodyPr>
          <a:lstStyle/>
          <a:p>
            <a:pPr marL="800100" lvl="1" indent="-342900">
              <a:lnSpc>
                <a:spcPct val="170000"/>
              </a:lnSpc>
              <a:buFont typeface="Wingdings" panose="05000000000000000000" pitchFamily="2" charset="2"/>
              <a:buChar char="§"/>
            </a:pPr>
            <a:r>
              <a:rPr lang="en-US" sz="7400" dirty="0">
                <a:latin typeface="Bahnschrift SemiBold Condensed" panose="020B0502040204020203" pitchFamily="34" charset="0"/>
              </a:rPr>
              <a:t>These start and stop bits can be eliminated by synchronizing receiver and transmitter. </a:t>
            </a:r>
          </a:p>
          <a:p>
            <a:pPr marL="800100" lvl="1" indent="-342900">
              <a:lnSpc>
                <a:spcPct val="170000"/>
              </a:lnSpc>
              <a:buFont typeface="Wingdings" panose="05000000000000000000" pitchFamily="2" charset="2"/>
              <a:buChar char="§"/>
            </a:pPr>
            <a:r>
              <a:rPr lang="en-US" sz="7400" dirty="0">
                <a:latin typeface="Bahnschrift SemiBold Condensed" panose="020B0502040204020203" pitchFamily="34" charset="0"/>
              </a:rPr>
              <a:t>Receiver and transmitter can be synchronized by having a common clock signal</a:t>
            </a:r>
            <a:endParaRPr lang="en-IN" sz="7400" dirty="0">
              <a:latin typeface="Bahnschrift SemiBold Condensed" panose="020B0502040204020203" pitchFamily="34" charset="0"/>
            </a:endParaRPr>
          </a:p>
          <a:p>
            <a:endParaRPr lang="en-IN" dirty="0"/>
          </a:p>
        </p:txBody>
      </p:sp>
      <p:sp>
        <p:nvSpPr>
          <p:cNvPr id="5" name="Text Placeholder 4">
            <a:extLst>
              <a:ext uri="{FF2B5EF4-FFF2-40B4-BE49-F238E27FC236}">
                <a16:creationId xmlns:a16="http://schemas.microsoft.com/office/drawing/2014/main" id="{8D43D9F8-B7D4-EF4F-94E3-7D80370B7E6F}"/>
              </a:ext>
            </a:extLst>
          </p:cNvPr>
          <p:cNvSpPr>
            <a:spLocks noGrp="1"/>
          </p:cNvSpPr>
          <p:nvPr>
            <p:ph type="body" sz="quarter" idx="4294967295"/>
          </p:nvPr>
        </p:nvSpPr>
        <p:spPr>
          <a:xfrm>
            <a:off x="458941" y="129561"/>
            <a:ext cx="2303923" cy="263729"/>
          </a:xfrm>
        </p:spPr>
        <p:txBody>
          <a:bodyPr>
            <a:normAutofit fontScale="77500" lnSpcReduction="20000"/>
          </a:bodyPr>
          <a:lstStyle/>
          <a:p>
            <a:pPr marL="0" indent="0">
              <a:buNone/>
            </a:pPr>
            <a:r>
              <a:rPr lang="en-IN" dirty="0"/>
              <a:t>CONTD</a:t>
            </a:r>
          </a:p>
        </p:txBody>
      </p:sp>
    </p:spTree>
    <p:extLst>
      <p:ext uri="{BB962C8B-B14F-4D97-AF65-F5344CB8AC3E}">
        <p14:creationId xmlns:p14="http://schemas.microsoft.com/office/powerpoint/2010/main" val="3547932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8629F68-84BA-CAD2-2326-52A21F9B6B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1381" y="236358"/>
            <a:ext cx="8543782" cy="2821474"/>
          </a:xfrm>
          <a:prstGeom prst="rect">
            <a:avLst/>
          </a:prstGeom>
        </p:spPr>
      </p:pic>
      <p:pic>
        <p:nvPicPr>
          <p:cNvPr id="11" name="Picture 10">
            <a:extLst>
              <a:ext uri="{FF2B5EF4-FFF2-40B4-BE49-F238E27FC236}">
                <a16:creationId xmlns:a16="http://schemas.microsoft.com/office/drawing/2014/main" id="{16BD8C5A-2077-110C-8261-ED6C71FE0F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61381" y="3429000"/>
            <a:ext cx="8269237" cy="3038010"/>
          </a:xfrm>
          <a:prstGeom prst="rect">
            <a:avLst/>
          </a:prstGeom>
        </p:spPr>
      </p:pic>
    </p:spTree>
    <p:extLst>
      <p:ext uri="{BB962C8B-B14F-4D97-AF65-F5344CB8AC3E}">
        <p14:creationId xmlns:p14="http://schemas.microsoft.com/office/powerpoint/2010/main" val="3848701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1D977-694F-EF10-A2F1-EAFA237C57BC}"/>
              </a:ext>
            </a:extLst>
          </p:cNvPr>
          <p:cNvSpPr>
            <a:spLocks noGrp="1"/>
          </p:cNvSpPr>
          <p:nvPr>
            <p:ph type="title"/>
          </p:nvPr>
        </p:nvSpPr>
        <p:spPr>
          <a:xfrm>
            <a:off x="372839" y="0"/>
            <a:ext cx="7729728" cy="825908"/>
          </a:xfrm>
        </p:spPr>
        <p:txBody>
          <a:bodyPr>
            <a:normAutofit/>
          </a:bodyPr>
          <a:lstStyle/>
          <a:p>
            <a:r>
              <a:rPr lang="en-IN" dirty="0"/>
              <a:t>8251 </a:t>
            </a:r>
            <a:r>
              <a:rPr lang="en-IN" dirty="0" err="1"/>
              <a:t>usart</a:t>
            </a:r>
            <a:endParaRPr lang="en-IN" dirty="0"/>
          </a:p>
        </p:txBody>
      </p:sp>
      <p:sp>
        <p:nvSpPr>
          <p:cNvPr id="3" name="Content Placeholder 2">
            <a:extLst>
              <a:ext uri="{FF2B5EF4-FFF2-40B4-BE49-F238E27FC236}">
                <a16:creationId xmlns:a16="http://schemas.microsoft.com/office/drawing/2014/main" id="{32F7B28A-4C69-3906-AAB1-8E3169B7CA58}"/>
              </a:ext>
            </a:extLst>
          </p:cNvPr>
          <p:cNvSpPr>
            <a:spLocks noGrp="1"/>
          </p:cNvSpPr>
          <p:nvPr>
            <p:ph idx="1"/>
          </p:nvPr>
        </p:nvSpPr>
        <p:spPr>
          <a:xfrm>
            <a:off x="-108942" y="1632156"/>
            <a:ext cx="7729728" cy="4719484"/>
          </a:xfrm>
        </p:spPr>
        <p:txBody>
          <a:bodyPr>
            <a:normAutofit fontScale="92500"/>
          </a:bodyPr>
          <a:lstStyle/>
          <a:p>
            <a:pPr fontAlgn="base">
              <a:lnSpc>
                <a:spcPct val="150000"/>
              </a:lnSpc>
            </a:pPr>
            <a:r>
              <a:rPr lang="en-US" sz="2800" dirty="0">
                <a:latin typeface="Bahnschrift SemiBold Condensed" panose="020B0502040204020203" pitchFamily="34" charset="0"/>
              </a:rPr>
              <a:t>The devices which provides synchronous as well as asynchronous transmission and reception are called </a:t>
            </a:r>
            <a:r>
              <a:rPr lang="en-US" sz="2800" u="sng" dirty="0">
                <a:highlight>
                  <a:srgbClr val="C0C0C0"/>
                </a:highlight>
                <a:latin typeface="Bahnschrift SemiBold Condensed" panose="020B0502040204020203" pitchFamily="34" charset="0"/>
              </a:rPr>
              <a:t>universal synchronous asynchronous receiver-transmitter.</a:t>
            </a:r>
          </a:p>
          <a:p>
            <a:pPr fontAlgn="base">
              <a:lnSpc>
                <a:spcPct val="150000"/>
              </a:lnSpc>
            </a:pPr>
            <a:r>
              <a:rPr lang="en-US" sz="2800" dirty="0">
                <a:latin typeface="Bahnschrift SemiBold Condensed" panose="020B0502040204020203" pitchFamily="34" charset="0"/>
              </a:rPr>
              <a:t> A good example of  USART is 8251. These devices are software programmable for number of data bits, parity and number of stop </a:t>
            </a:r>
            <a:r>
              <a:rPr lang="en-US" sz="2800" u="sng" dirty="0">
                <a:latin typeface="Bahnschrift SemiBold Condensed" panose="020B0502040204020203" pitchFamily="34" charset="0"/>
              </a:rPr>
              <a:t>bits</a:t>
            </a:r>
            <a:br>
              <a:rPr lang="en-US" sz="2800" u="sng" dirty="0">
                <a:latin typeface="Bahnschrift SemiBold Condensed" panose="020B0502040204020203" pitchFamily="34" charset="0"/>
                <a:hlinkClick r:id="rId2" tooltip="Blogger"/>
              </a:rPr>
            </a:br>
            <a:endParaRPr lang="en-IN" sz="2800" dirty="0">
              <a:latin typeface="Bahnschrift SemiBold Condensed" panose="020B0502040204020203" pitchFamily="34" charset="0"/>
            </a:endParaRPr>
          </a:p>
          <a:p>
            <a:pPr>
              <a:lnSpc>
                <a:spcPct val="150000"/>
              </a:lnSpc>
            </a:pPr>
            <a:endParaRPr lang="en-IN" dirty="0"/>
          </a:p>
        </p:txBody>
      </p:sp>
      <p:pic>
        <p:nvPicPr>
          <p:cNvPr id="5" name="Picture 4">
            <a:extLst>
              <a:ext uri="{FF2B5EF4-FFF2-40B4-BE49-F238E27FC236}">
                <a16:creationId xmlns:a16="http://schemas.microsoft.com/office/drawing/2014/main" id="{E07E9D15-473A-3F7F-EF5E-EC7BCF912B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8373" y="117987"/>
            <a:ext cx="3514725" cy="6548284"/>
          </a:xfrm>
          <a:prstGeom prst="rect">
            <a:avLst/>
          </a:prstGeom>
        </p:spPr>
      </p:pic>
    </p:spTree>
    <p:extLst>
      <p:ext uri="{BB962C8B-B14F-4D97-AF65-F5344CB8AC3E}">
        <p14:creationId xmlns:p14="http://schemas.microsoft.com/office/powerpoint/2010/main" val="396289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65C7D-6A07-2ECD-BA10-784E69E38072}"/>
              </a:ext>
            </a:extLst>
          </p:cNvPr>
          <p:cNvSpPr>
            <a:spLocks noGrp="1"/>
          </p:cNvSpPr>
          <p:nvPr>
            <p:ph type="title"/>
          </p:nvPr>
        </p:nvSpPr>
        <p:spPr>
          <a:xfrm>
            <a:off x="1995162" y="89621"/>
            <a:ext cx="7729728" cy="372495"/>
          </a:xfrm>
        </p:spPr>
        <p:txBody>
          <a:bodyPr>
            <a:normAutofit fontScale="90000"/>
          </a:bodyPr>
          <a:lstStyle/>
          <a:p>
            <a:r>
              <a:rPr lang="en-IN" dirty="0"/>
              <a:t>Block diagram</a:t>
            </a:r>
          </a:p>
        </p:txBody>
      </p:sp>
      <p:pic>
        <p:nvPicPr>
          <p:cNvPr id="5" name="Content Placeholder 4">
            <a:extLst>
              <a:ext uri="{FF2B5EF4-FFF2-40B4-BE49-F238E27FC236}">
                <a16:creationId xmlns:a16="http://schemas.microsoft.com/office/drawing/2014/main" id="{A71DD452-7552-76F6-56B4-493B2B9B77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76125" y="658762"/>
            <a:ext cx="6367801" cy="5850193"/>
          </a:xfrm>
        </p:spPr>
      </p:pic>
    </p:spTree>
    <p:extLst>
      <p:ext uri="{BB962C8B-B14F-4D97-AF65-F5344CB8AC3E}">
        <p14:creationId xmlns:p14="http://schemas.microsoft.com/office/powerpoint/2010/main" val="3370168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45569F-315C-A207-B9B2-802E922C1F16}"/>
              </a:ext>
            </a:extLst>
          </p:cNvPr>
          <p:cNvSpPr txBox="1"/>
          <p:nvPr/>
        </p:nvSpPr>
        <p:spPr>
          <a:xfrm>
            <a:off x="501445" y="530943"/>
            <a:ext cx="10333703" cy="4678204"/>
          </a:xfrm>
          <a:prstGeom prst="rect">
            <a:avLst/>
          </a:prstGeom>
          <a:noFill/>
        </p:spPr>
        <p:txBody>
          <a:bodyPr wrap="square" rtlCol="0">
            <a:spAutoFit/>
          </a:bodyPr>
          <a:lstStyle/>
          <a:p>
            <a:r>
              <a:rPr lang="en-US" sz="2800" b="1" dirty="0"/>
              <a:t>BLOCK DIAGRAM OF 8251</a:t>
            </a:r>
          </a:p>
          <a:p>
            <a:endParaRPr lang="en-US" sz="2800" b="1" dirty="0"/>
          </a:p>
          <a:p>
            <a:r>
              <a:rPr lang="en-US" sz="2800" dirty="0"/>
              <a:t>Main blocks:</a:t>
            </a:r>
          </a:p>
          <a:p>
            <a:endParaRPr lang="en-US" sz="2800" dirty="0"/>
          </a:p>
          <a:p>
            <a:endParaRPr lang="en-US" sz="2800" dirty="0"/>
          </a:p>
          <a:p>
            <a:pPr marL="514350" indent="-514350">
              <a:buFont typeface="+mj-lt"/>
              <a:buAutoNum type="arabicPeriod"/>
            </a:pPr>
            <a:r>
              <a:rPr lang="en-US" sz="2800" dirty="0"/>
              <a:t>Data Bus Buffer</a:t>
            </a:r>
          </a:p>
          <a:p>
            <a:pPr marL="514350" indent="-514350">
              <a:buFont typeface="+mj-lt"/>
              <a:buAutoNum type="arabicPeriod"/>
            </a:pPr>
            <a:r>
              <a:rPr lang="en-US" sz="2800" dirty="0"/>
              <a:t>Read/Write Control Logic</a:t>
            </a:r>
          </a:p>
          <a:p>
            <a:pPr marL="514350" indent="-514350">
              <a:buFont typeface="+mj-lt"/>
              <a:buAutoNum type="arabicPeriod"/>
            </a:pPr>
            <a:r>
              <a:rPr lang="en-US" sz="2800" dirty="0"/>
              <a:t>Transmitter Section</a:t>
            </a:r>
          </a:p>
          <a:p>
            <a:pPr marL="514350" indent="-514350">
              <a:buFont typeface="+mj-lt"/>
              <a:buAutoNum type="arabicPeriod"/>
            </a:pPr>
            <a:r>
              <a:rPr lang="en-US" sz="2800" dirty="0"/>
              <a:t>Receiver Section</a:t>
            </a:r>
          </a:p>
          <a:p>
            <a:pPr marL="514350" indent="-514350">
              <a:buFont typeface="+mj-lt"/>
              <a:buAutoNum type="arabicPeriod"/>
            </a:pPr>
            <a:r>
              <a:rPr lang="en-US" sz="2800" dirty="0"/>
              <a:t>Modem Control Section</a:t>
            </a:r>
          </a:p>
          <a:p>
            <a:endParaRPr lang="en-IN" dirty="0"/>
          </a:p>
        </p:txBody>
      </p:sp>
    </p:spTree>
    <p:extLst>
      <p:ext uri="{BB962C8B-B14F-4D97-AF65-F5344CB8AC3E}">
        <p14:creationId xmlns:p14="http://schemas.microsoft.com/office/powerpoint/2010/main" val="3067135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3E3350-1864-554E-C1A7-692E8684BB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0233" y="732866"/>
            <a:ext cx="5073446" cy="5644019"/>
          </a:xfrm>
          <a:prstGeom prst="rect">
            <a:avLst/>
          </a:prstGeom>
        </p:spPr>
      </p:pic>
      <p:sp>
        <p:nvSpPr>
          <p:cNvPr id="6" name="TextBox 5">
            <a:extLst>
              <a:ext uri="{FF2B5EF4-FFF2-40B4-BE49-F238E27FC236}">
                <a16:creationId xmlns:a16="http://schemas.microsoft.com/office/drawing/2014/main" id="{385B2326-C6EA-836F-A0D7-2FE0037BA0DB}"/>
              </a:ext>
            </a:extLst>
          </p:cNvPr>
          <p:cNvSpPr txBox="1"/>
          <p:nvPr/>
        </p:nvSpPr>
        <p:spPr>
          <a:xfrm>
            <a:off x="501445" y="0"/>
            <a:ext cx="5210767" cy="461665"/>
          </a:xfrm>
          <a:prstGeom prst="rect">
            <a:avLst/>
          </a:prstGeom>
          <a:noFill/>
        </p:spPr>
        <p:txBody>
          <a:bodyPr wrap="square" rtlCol="0">
            <a:spAutoFit/>
          </a:bodyPr>
          <a:lstStyle/>
          <a:p>
            <a:r>
              <a:rPr lang="en-IN" sz="2400" b="1" dirty="0">
                <a:highlight>
                  <a:srgbClr val="C0C0C0"/>
                </a:highlight>
                <a:latin typeface="Bahnschrift SemiBold Condensed" panose="020B0502040204020203" pitchFamily="34" charset="0"/>
              </a:rPr>
              <a:t>Programming the 8251</a:t>
            </a:r>
          </a:p>
        </p:txBody>
      </p:sp>
      <p:sp>
        <p:nvSpPr>
          <p:cNvPr id="7" name="TextBox 6">
            <a:extLst>
              <a:ext uri="{FF2B5EF4-FFF2-40B4-BE49-F238E27FC236}">
                <a16:creationId xmlns:a16="http://schemas.microsoft.com/office/drawing/2014/main" id="{FE774577-9F8B-5B74-7D1D-132DA6C33DE3}"/>
              </a:ext>
            </a:extLst>
          </p:cNvPr>
          <p:cNvSpPr txBox="1"/>
          <p:nvPr/>
        </p:nvSpPr>
        <p:spPr>
          <a:xfrm>
            <a:off x="393289" y="732866"/>
            <a:ext cx="6027176" cy="611930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2400" dirty="0">
                <a:latin typeface="Bahnschrift SemiBold Condensed" panose="020B0502040204020203" pitchFamily="34" charset="0"/>
              </a:rPr>
              <a:t>The 8251 is programmed using mode word and control word</a:t>
            </a:r>
          </a:p>
          <a:p>
            <a:pPr marL="285750" indent="-285750">
              <a:lnSpc>
                <a:spcPct val="150000"/>
              </a:lnSpc>
              <a:buFont typeface="Arial" panose="020B0604020202020204" pitchFamily="34" charset="0"/>
              <a:buChar char="•"/>
            </a:pPr>
            <a:r>
              <a:rPr lang="en-IN" sz="2400" dirty="0">
                <a:latin typeface="Bahnschrift SemiBold Condensed" panose="020B0502040204020203" pitchFamily="34" charset="0"/>
              </a:rPr>
              <a:t>First reset the 8251 and mode word is sent  to control register address followed by control word to same address</a:t>
            </a:r>
          </a:p>
          <a:p>
            <a:pPr marL="285750" indent="-285750">
              <a:lnSpc>
                <a:spcPct val="150000"/>
              </a:lnSpc>
              <a:buFont typeface="Arial" panose="020B0604020202020204" pitchFamily="34" charset="0"/>
              <a:buChar char="•"/>
            </a:pPr>
            <a:r>
              <a:rPr lang="en-IN" sz="2400" dirty="0">
                <a:latin typeface="Bahnschrift SemiBold Condensed" panose="020B0502040204020203" pitchFamily="34" charset="0"/>
              </a:rPr>
              <a:t>The mode word informs the baud rate ,  parity , character length.</a:t>
            </a:r>
          </a:p>
          <a:p>
            <a:pPr marL="285750" indent="-285750">
              <a:lnSpc>
                <a:spcPct val="150000"/>
              </a:lnSpc>
              <a:buFont typeface="Arial" panose="020B0604020202020204" pitchFamily="34" charset="0"/>
              <a:buChar char="•"/>
            </a:pPr>
            <a:r>
              <a:rPr lang="en-IN" sz="2400" dirty="0">
                <a:latin typeface="Bahnschrift SemiBold Condensed" panose="020B0502040204020203" pitchFamily="34" charset="0"/>
              </a:rPr>
              <a:t>The command word is sent to enable data transmission\reception.</a:t>
            </a:r>
          </a:p>
          <a:p>
            <a:pPr marL="285750" indent="-285750">
              <a:lnSpc>
                <a:spcPct val="150000"/>
              </a:lnSpc>
              <a:buFont typeface="Arial" panose="020B0604020202020204" pitchFamily="34" charset="0"/>
              <a:buChar char="•"/>
            </a:pPr>
            <a:r>
              <a:rPr lang="en-IN" sz="2400" dirty="0">
                <a:latin typeface="Bahnschrift SemiBold Condensed" panose="020B0502040204020203" pitchFamily="34" charset="0"/>
              </a:rPr>
              <a:t>The info regarding readiness of transmitter\receiver and transmission errors are obtained from status word</a:t>
            </a:r>
            <a:endParaRPr lang="en-IN" sz="2400" dirty="0"/>
          </a:p>
        </p:txBody>
      </p:sp>
    </p:spTree>
    <p:extLst>
      <p:ext uri="{BB962C8B-B14F-4D97-AF65-F5344CB8AC3E}">
        <p14:creationId xmlns:p14="http://schemas.microsoft.com/office/powerpoint/2010/main" val="3617971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528CE6-341B-CD3C-E1B5-B0FDB8EC77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7161" y="589554"/>
            <a:ext cx="7961517" cy="5968180"/>
          </a:xfrm>
          <a:prstGeom prst="rect">
            <a:avLst/>
          </a:prstGeom>
        </p:spPr>
      </p:pic>
      <p:sp>
        <p:nvSpPr>
          <p:cNvPr id="4" name="TextBox 3">
            <a:extLst>
              <a:ext uri="{FF2B5EF4-FFF2-40B4-BE49-F238E27FC236}">
                <a16:creationId xmlns:a16="http://schemas.microsoft.com/office/drawing/2014/main" id="{A622707B-888D-133C-AE5A-CBE687E30714}"/>
              </a:ext>
            </a:extLst>
          </p:cNvPr>
          <p:cNvSpPr txBox="1"/>
          <p:nvPr/>
        </p:nvSpPr>
        <p:spPr>
          <a:xfrm rot="16200000">
            <a:off x="7279349" y="-2865729"/>
            <a:ext cx="497534" cy="617207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E912F6D8-AF0E-07AD-1BA7-B99E08464DFE}"/>
              </a:ext>
            </a:extLst>
          </p:cNvPr>
          <p:cNvSpPr txBox="1"/>
          <p:nvPr/>
        </p:nvSpPr>
        <p:spPr>
          <a:xfrm>
            <a:off x="324465" y="66334"/>
            <a:ext cx="7669162" cy="523220"/>
          </a:xfrm>
          <a:prstGeom prst="rect">
            <a:avLst/>
          </a:prstGeom>
          <a:noFill/>
        </p:spPr>
        <p:txBody>
          <a:bodyPr wrap="square" rtlCol="0">
            <a:spAutoFit/>
          </a:bodyPr>
          <a:lstStyle/>
          <a:p>
            <a:r>
              <a:rPr lang="en-IN" sz="2800" dirty="0"/>
              <a:t>COMMAND WORD</a:t>
            </a:r>
          </a:p>
        </p:txBody>
      </p:sp>
    </p:spTree>
    <p:extLst>
      <p:ext uri="{BB962C8B-B14F-4D97-AF65-F5344CB8AC3E}">
        <p14:creationId xmlns:p14="http://schemas.microsoft.com/office/powerpoint/2010/main" val="1871594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E3C795-123D-907A-D88B-C73CD1CE2DDF}"/>
              </a:ext>
            </a:extLst>
          </p:cNvPr>
          <p:cNvSpPr txBox="1"/>
          <p:nvPr/>
        </p:nvSpPr>
        <p:spPr>
          <a:xfrm>
            <a:off x="216310" y="127819"/>
            <a:ext cx="11149780" cy="6553012"/>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en-US" sz="2400" dirty="0">
                <a:latin typeface="Bahnschrift SemiBold Condensed" panose="020B0502040204020203" pitchFamily="34" charset="0"/>
              </a:rPr>
              <a:t>the data communication systems it is often necessary to examine the “status” of the transmitter and receiver. It is also necessary for CPU to know if any error has occurred during communication. </a:t>
            </a:r>
          </a:p>
          <a:p>
            <a:pPr fontAlgn="base">
              <a:lnSpc>
                <a:spcPct val="150000"/>
              </a:lnSpc>
            </a:pPr>
            <a:r>
              <a:rPr lang="en-US" sz="2400" dirty="0">
                <a:solidFill>
                  <a:srgbClr val="00B0F0"/>
                </a:solidFill>
                <a:latin typeface="Bahnschrift SemiBold Condensed" panose="020B0502040204020203" pitchFamily="34" charset="0"/>
              </a:rPr>
              <a:t>Parity Error </a:t>
            </a:r>
            <a:r>
              <a:rPr lang="en-US" sz="2400" dirty="0">
                <a:latin typeface="Bahnschrift SemiBold Condensed" panose="020B0502040204020203" pitchFamily="34" charset="0"/>
              </a:rPr>
              <a:t>: At the time of transmission of data an even or odd parity bit is inserted in the data stream. At the receiver end, if parity of the character does not match with the pre-defined parity, parity error occurs.</a:t>
            </a:r>
          </a:p>
          <a:p>
            <a:pPr fontAlgn="base">
              <a:lnSpc>
                <a:spcPct val="150000"/>
              </a:lnSpc>
            </a:pPr>
            <a:r>
              <a:rPr lang="en-US" sz="2400" dirty="0">
                <a:solidFill>
                  <a:srgbClr val="00B0F0"/>
                </a:solidFill>
                <a:latin typeface="Bahnschrift SemiBold Condensed" panose="020B0502040204020203" pitchFamily="34" charset="0"/>
              </a:rPr>
              <a:t>Overrun Error </a:t>
            </a:r>
            <a:r>
              <a:rPr lang="en-US" sz="2400" dirty="0">
                <a:latin typeface="Bahnschrift SemiBold Condensed" panose="020B0502040204020203" pitchFamily="34" charset="0"/>
              </a:rPr>
              <a:t>: In the receiver section received character is stored in the receiver </a:t>
            </a:r>
            <a:r>
              <a:rPr lang="en-US" sz="2400" u="sng" dirty="0">
                <a:latin typeface="Bahnschrift SemiBold Condensed" panose="020B0502040204020203" pitchFamily="34" charset="0"/>
                <a:hlinkClick r:id="rId2"/>
              </a:rPr>
              <a:t>buffer</a:t>
            </a:r>
            <a:r>
              <a:rPr lang="en-US" sz="2400" dirty="0">
                <a:latin typeface="Bahnschrift SemiBold Condensed" panose="020B0502040204020203" pitchFamily="34" charset="0"/>
              </a:rPr>
              <a:t>. The CPU is supposed to read this character before reception of the next character. But if CPU fails in reading the character loaded in the receiver buffer, the next the received character replaces the previous one and the OVERRRUN Error occurs.</a:t>
            </a:r>
          </a:p>
          <a:p>
            <a:pPr fontAlgn="base">
              <a:lnSpc>
                <a:spcPct val="150000"/>
              </a:lnSpc>
            </a:pPr>
            <a:r>
              <a:rPr lang="en-US" sz="2400" dirty="0">
                <a:solidFill>
                  <a:srgbClr val="00B0F0"/>
                </a:solidFill>
                <a:latin typeface="Bahnschrift SemiBold Condensed" panose="020B0502040204020203" pitchFamily="34" charset="0"/>
              </a:rPr>
              <a:t>Framing Error </a:t>
            </a:r>
            <a:r>
              <a:rPr lang="en-US" sz="2400" dirty="0">
                <a:latin typeface="Bahnschrift SemiBold Condensed" panose="020B0502040204020203" pitchFamily="34" charset="0"/>
              </a:rPr>
              <a:t>: If valid stop bit is not detected at the end each character framing error occurs.</a:t>
            </a:r>
          </a:p>
          <a:p>
            <a:pPr fontAlgn="base">
              <a:lnSpc>
                <a:spcPct val="150000"/>
              </a:lnSpc>
            </a:pPr>
            <a:r>
              <a:rPr lang="en-US" sz="2400" dirty="0">
                <a:latin typeface="Bahnschrift SemiBold Condensed" panose="020B0502040204020203" pitchFamily="34" charset="0"/>
              </a:rPr>
              <a:t>All these errors, when occur, set the </a:t>
            </a:r>
            <a:r>
              <a:rPr lang="en-US" sz="2400" dirty="0" err="1">
                <a:latin typeface="Bahnschrift SemiBold Condensed" panose="020B0502040204020203" pitchFamily="34" charset="0"/>
              </a:rPr>
              <a:t>corrosponding</a:t>
            </a:r>
            <a:r>
              <a:rPr lang="en-US" sz="2400" dirty="0">
                <a:latin typeface="Bahnschrift SemiBold Condensed" panose="020B0502040204020203" pitchFamily="34" charset="0"/>
              </a:rPr>
              <a:t> bits in the status register. These error bits are reset by setting ER bit in the command instruction</a:t>
            </a:r>
            <a:r>
              <a:rPr lang="en-US" dirty="0"/>
              <a:t>.</a:t>
            </a:r>
          </a:p>
          <a:p>
            <a:pPr marL="285750" indent="-285750">
              <a:lnSpc>
                <a:spcPct val="150000"/>
              </a:lnSpc>
              <a:buFont typeface="Wingdings" panose="05000000000000000000" pitchFamily="2" charset="2"/>
              <a:buChar char="§"/>
            </a:pPr>
            <a:endParaRPr lang="en-IN" dirty="0"/>
          </a:p>
        </p:txBody>
      </p:sp>
    </p:spTree>
    <p:extLst>
      <p:ext uri="{BB962C8B-B14F-4D97-AF65-F5344CB8AC3E}">
        <p14:creationId xmlns:p14="http://schemas.microsoft.com/office/powerpoint/2010/main" val="2130870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F39F1E-FB82-DE1D-3E55-0ADCCF84CF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2425" y="623653"/>
            <a:ext cx="8799871" cy="6051394"/>
          </a:xfrm>
          <a:prstGeom prst="rect">
            <a:avLst/>
          </a:prstGeom>
        </p:spPr>
      </p:pic>
      <p:sp>
        <p:nvSpPr>
          <p:cNvPr id="5" name="TextBox 4">
            <a:extLst>
              <a:ext uri="{FF2B5EF4-FFF2-40B4-BE49-F238E27FC236}">
                <a16:creationId xmlns:a16="http://schemas.microsoft.com/office/drawing/2014/main" id="{1F6380C5-6EAF-60E0-5B68-BEE9057551A7}"/>
              </a:ext>
            </a:extLst>
          </p:cNvPr>
          <p:cNvSpPr txBox="1"/>
          <p:nvPr/>
        </p:nvSpPr>
        <p:spPr>
          <a:xfrm>
            <a:off x="265471" y="100433"/>
            <a:ext cx="8042788" cy="523220"/>
          </a:xfrm>
          <a:prstGeom prst="rect">
            <a:avLst/>
          </a:prstGeom>
          <a:noFill/>
        </p:spPr>
        <p:txBody>
          <a:bodyPr wrap="square" rtlCol="0">
            <a:spAutoFit/>
          </a:bodyPr>
          <a:lstStyle/>
          <a:p>
            <a:r>
              <a:rPr lang="en-IN" sz="2800" dirty="0">
                <a:latin typeface="Bahnschrift SemiBold Condensed" panose="020B0502040204020203" pitchFamily="34" charset="0"/>
              </a:rPr>
              <a:t>STATUS WORD</a:t>
            </a:r>
          </a:p>
        </p:txBody>
      </p:sp>
    </p:spTree>
    <p:extLst>
      <p:ext uri="{BB962C8B-B14F-4D97-AF65-F5344CB8AC3E}">
        <p14:creationId xmlns:p14="http://schemas.microsoft.com/office/powerpoint/2010/main" val="190028898"/>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1570</TotalTime>
  <Words>778</Words>
  <Application>Microsoft Office PowerPoint</Application>
  <PresentationFormat>Widescreen</PresentationFormat>
  <Paragraphs>70</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Bahnschrift SemiBold</vt:lpstr>
      <vt:lpstr>Bahnschrift SemiBold Condensed</vt:lpstr>
      <vt:lpstr>Gill Sans MT</vt:lpstr>
      <vt:lpstr>Wingdings</vt:lpstr>
      <vt:lpstr>Parcel</vt:lpstr>
      <vt:lpstr>Serial communication interface (8251)</vt:lpstr>
      <vt:lpstr>introduction</vt:lpstr>
      <vt:lpstr>PowerPoint Presentation</vt:lpstr>
      <vt:lpstr>The data in the Serial Communication Interface 8251 may be sent in two formats  </vt:lpstr>
      <vt:lpstr>PowerPoint Presentation</vt:lpstr>
      <vt:lpstr>PowerPoint Presentation</vt:lpstr>
      <vt:lpstr>8251 usart</vt:lpstr>
      <vt:lpstr>Block diagram</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Kavya Darshni</dc:creator>
  <cp:lastModifiedBy>Kavya Darshni</cp:lastModifiedBy>
  <cp:revision>3</cp:revision>
  <dcterms:created xsi:type="dcterms:W3CDTF">2026-01-25T14:55:37Z</dcterms:created>
  <dcterms:modified xsi:type="dcterms:W3CDTF">2026-01-26T17:06:22Z</dcterms:modified>
</cp:coreProperties>
</file>